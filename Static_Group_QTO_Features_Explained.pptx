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walks through every part of the system in plain language. The short version: the computer reads the drawings and proposes quantities; Static Group's estimators check, correct and approve them. Nothing becomes final without a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everyday pains of preparing a BOQ manually. The system targets each one, without removing the estimator from the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black boxes are start and end points. The top row is automatic. The bottom row is the human control loop that makes the result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rules were designed in from the start. They are the reason the output can be trusted and audited.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reads the same DXF files the consultant provides. It does not need PDFs or scans. Everything it reads is listed so nothing is silently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measuring engine. It is deterministic: the same drawings always give the same numbers, and every number can be traced.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Quantities that depend on a Static Group habit (for example how column height is measured) are shown as options until an estimator approves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output looks like a Static Group BOQ, not a generic list. The status column is the important part: it tells you how far you can trust each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Today, on the three reference projects, no measured line is final yet: they are waiting for the estimator's rule decisions. That is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feature estimators usually like most: nothing is a black box. Every number can be checked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on screen: footing F5 on the Al-Kawari foundation plan, 1.6 × 1.2 × 0.4 m = 0.768 m³.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benchmark is evidence for investigation. Where the drawings are clear and the method matches, the system lands close to Static Group's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input Static Group can give: an estimator spending about an hour deciding these 22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never selects an option itself. It shows the consequences of each choice so the estimator can decide quickly and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Sessions make the validation traceable: later you can show exactly which estimator confirmed which rule, and what it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Important: a correction never changes the measuring rule by itself. It becomes evidence that helps the estimator decide the rule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Revision handling is where automation can save the most time later. It still needs one real revised drawing set to prove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these inputs are missing on all three reference projects, which is why those lines show as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Examples of review items: a beam with no depth in the schedule, a label that matches two marks, a slab without a thickness.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figures: 3 projects, 237 BOQ lines, 147 items requiring review, 66 missing information, 22 pending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AI helps people find and understand information. It does not calculate quantities and does not make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e-mail or Teams delivery is connected yet; that would need Static Group's approval of where project data may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how Static Group will get an honest business case: from its own estimators' numbers on a real tender.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every number in a BOQ you can answer: which drawing, which rule, who approved it and when.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summary: the machinery is built and tested. What remains is Static Group's own knowledge and a real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these can be produced by the system — they are Static Group's knowledge and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test stays under the estimator's control. The output is a measured, honest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asking for the two things that unlock the next step: an estimator's hour for the rules, and a real tender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jp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atic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3615348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19456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Segoe UI"/>
              </a:rPr>
              <a:t>Automated Quantity Takeoff &amp; BOQ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C9CCD1"/>
                </a:solidFill>
                <a:latin typeface="Segoe UI"/>
              </a:rPr>
              <a:t>Every feature explained in simple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A9FA6"/>
                </a:solidFill>
                <a:latin typeface="Segoe UI"/>
              </a:rPr>
              <a:t>AI-assisted · the estimator stays in control · every number shows where it came from</a:t>
            </a:r>
          </a:p>
          <a:p>
            <a:pPr algn="l"/>
            <a:r>
              <a:rPr sz="1400" b="0">
                <a:solidFill>
                  <a:srgbClr val="9A9FA6"/>
                </a:solidFill>
                <a:latin typeface="Segoe UI"/>
              </a:rPr>
              <a:t>Status: ready for a controlled live test with a real Static Group project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The problem we are solving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3545738" cy="18288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Manual take-off is slow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An estimator measures every footing, column, beam, slab and wall by hand from dozens of drawings.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645920"/>
            <a:ext cx="3545738" cy="18288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Hard to check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Numbers end up in spreadsheets. It is difficult to see later where a quantity came from.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645920"/>
            <a:ext cx="3545738" cy="18288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Revisions repeat the work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When the consultant issues new drawings, much of the measuring is done again.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3545738" cy="18288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Know-how lives in people's heads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How Static Group measures (heights, depths, allowances) is not written down anywhere.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978" y="3703320"/>
            <a:ext cx="3545738" cy="18288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Management sees little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It is hard to know quickly which projects have problems or missing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3703320"/>
            <a:ext cx="3545738" cy="18288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The goal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Let the computer do the repetitive measuring, show the proof, and let estimators decide.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How it works — the whole system in one picture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1582369" cy="114300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Drawings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CAD files (DXF) of the project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85873" y="219913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51049" y="1737360"/>
            <a:ext cx="1582369" cy="11430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11214"/>
                </a:solidFill>
                <a:latin typeface="Segoe UI"/>
              </a:rPr>
              <a:t>Read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11214"/>
                </a:solidFill>
                <a:latin typeface="Segoe UI"/>
              </a:rPr>
              <a:t>Find layers, text, tables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88282" y="219913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53458" y="1737360"/>
            <a:ext cx="1582369" cy="11430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11214"/>
                </a:solidFill>
                <a:latin typeface="Segoe UI"/>
              </a:rPr>
              <a:t>Recognise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11214"/>
                </a:solidFill>
                <a:latin typeface="Segoe UI"/>
              </a:rPr>
              <a:t>Footings, columns, beams, slabs, walls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90691" y="219913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5867" y="1737360"/>
            <a:ext cx="1582369" cy="11430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11214"/>
                </a:solidFill>
                <a:latin typeface="Segoe UI"/>
              </a:rPr>
              <a:t>Measure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11214"/>
                </a:solidFill>
                <a:latin typeface="Segoe UI"/>
              </a:rPr>
              <a:t>Dimensions from drawings &amp; schedules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93100" y="219913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8276" y="1737360"/>
            <a:ext cx="1582369" cy="11430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11214"/>
                </a:solidFill>
                <a:latin typeface="Segoe UI"/>
              </a:rPr>
              <a:t>Calculate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11214"/>
                </a:solidFill>
                <a:latin typeface="Segoe UI"/>
              </a:rPr>
              <a:t>Concrete, blocks, plaster…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795509" y="219913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60685" y="1737360"/>
            <a:ext cx="1582369" cy="114300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Static Group BOQ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Your own format and wording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582369" cy="1143000"/>
          </a:xfrm>
          <a:prstGeom prst="roundRect">
            <a:avLst>
              <a:gd name="adj" fmla="val 8000"/>
            </a:avLst>
          </a:prstGeom>
          <a:solidFill>
            <a:srgbClr val="2B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Estimator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Checks every line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185873" y="379933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51049" y="3337560"/>
            <a:ext cx="1582369" cy="11430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11214"/>
                </a:solidFill>
                <a:latin typeface="Segoe UI"/>
              </a:rPr>
              <a:t>Accept / Correct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11214"/>
                </a:solidFill>
                <a:latin typeface="Segoe UI"/>
              </a:rPr>
              <a:t>Or reject / keep open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088282" y="379933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53458" y="3337560"/>
            <a:ext cx="1582369" cy="11430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11214"/>
                </a:solidFill>
                <a:latin typeface="Segoe UI"/>
              </a:rPr>
              <a:t>Rules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11214"/>
                </a:solidFill>
                <a:latin typeface="Segoe UI"/>
              </a:rPr>
              <a:t>Approve how Static Group measures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90691" y="379933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5867" y="3337560"/>
            <a:ext cx="1582369" cy="11430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11214"/>
                </a:solidFill>
                <a:latin typeface="Segoe UI"/>
              </a:rPr>
              <a:t>Recalculate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11214"/>
                </a:solidFill>
                <a:latin typeface="Segoe UI"/>
              </a:rPr>
              <a:t>Only what is affected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93100" y="379933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58276" y="3337560"/>
            <a:ext cx="1582369" cy="11430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11214"/>
                </a:solidFill>
                <a:latin typeface="Segoe UI"/>
              </a:rPr>
              <a:t>Audit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11214"/>
                </a:solidFill>
                <a:latin typeface="Segoe UI"/>
              </a:rPr>
              <a:t>Who decided what, when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795509" y="379933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60685" y="3337560"/>
            <a:ext cx="1582369" cy="1143000"/>
          </a:xfrm>
          <a:prstGeom prst="roundRect">
            <a:avLst>
              <a:gd name="adj" fmla="val 8000"/>
            </a:avLst>
          </a:prstGeom>
          <a:solidFill>
            <a:srgbClr val="2B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Export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Excel BOQ &amp; reports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Top row: what the computer does automatically.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Bottom row: what the estimator does — the computer never makes these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Four promises the system keeps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432907" cy="19202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11214"/>
                </a:solidFill>
                <a:latin typeface="Segoe UI"/>
              </a:rPr>
              <a:t>1. It never guesses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11214"/>
                </a:solidFill>
                <a:latin typeface="Segoe UI"/>
              </a:rPr>
              <a:t>If a dimension is missing, the line says 'Missing' or 'Needs Review'. It never invents a number.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645920"/>
            <a:ext cx="5432907" cy="19202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11214"/>
                </a:solidFill>
                <a:latin typeface="Segoe UI"/>
              </a:rPr>
              <a:t>2. Every number has proof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11214"/>
                </a:solidFill>
                <a:latin typeface="Segoe UI"/>
              </a:rPr>
              <a:t>Each quantity links back to the drawing, the element, its dimensions and the formula used.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5432907" cy="19202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11214"/>
                </a:solidFill>
                <a:latin typeface="Segoe UI"/>
              </a:rPr>
              <a:t>3. The estimator decides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11214"/>
                </a:solidFill>
                <a:latin typeface="Segoe UI"/>
              </a:rPr>
              <a:t>The computer proposes. Only an estimator can accept, correct or approve a measuring rule.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3794760"/>
            <a:ext cx="5432907" cy="19202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11214"/>
                </a:solidFill>
                <a:latin typeface="Segoe UI"/>
              </a:rPr>
              <a:t>4. Data stays in-house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11214"/>
                </a:solidFill>
                <a:latin typeface="Segoe UI"/>
              </a:rPr>
              <a:t>Runs on Static Group's own computer. Drawings and BOQs are not sent to outside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DRAWINGS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Step 1 — Reading the drawings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6692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Opens every CAD (DXF) file of a project — about 80 files per villa, all disciplines.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Sorts them: structural, architectural, mechanical, electrical.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Finds what matters on each drawing: layers, text labels, tables (schedules) and level marks.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Keeps a drawing register: drawing number, title, revision, source file, upload time and status.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Numbers and titles are read from the file name and clearly marked 'parsed' so they can be checked.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Revisions are 'not recorded' until someone types them in from the title block — never guessed.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Files that cannot be read are shown as failed, not hidden.</a:t>
            </a:r>
          </a:p>
        </p:txBody>
      </p:sp>
      <p:pic>
        <p:nvPicPr>
          <p:cNvPr id="10" name="Picture 9" descr="view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5257800" cy="3286125"/>
          </a:xfrm>
          <a:prstGeom prst="rect">
            <a:avLst/>
          </a:prstGeom>
          <a:ln w="12700">
            <a:solidFill>
              <a:srgbClr val="E2E4E7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300" b="1">
                <a:solidFill>
                  <a:srgbClr val="111214"/>
                </a:solidFill>
                <a:latin typeface="Segoe UI"/>
              </a:rPr>
              <a:t>Step 2 — Recognising and measuring each element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852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Finds each footing, raft, blinding, column, beam, slab, pedestal and RC wall.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Reads its ID label (e.g. F5, C12, T.B1) and its floor.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Takes sizes from the drawing outline and from the drawing's own schedules (tables).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Cross-checks: does the drawn size match the schedule? If not, it flags it.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Example — footing F5 on the foundation plan: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1.60 m × 1.20 m from the outline, 0.40 m depth from the footing schedule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1.60 × 1.20 × 0.40 = 0.768 m³ — with the exact drawing, layer and table row recorded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691640"/>
            <a:ext cx="4846320" cy="10058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214"/>
                </a:solidFill>
                <a:latin typeface="Segoe UI"/>
              </a:rPr>
              <a:t>Ramzi villa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11214"/>
                </a:solidFill>
                <a:latin typeface="Segoe UI"/>
              </a:rPr>
              <a:t>247 elements found and measured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926080"/>
            <a:ext cx="4846320" cy="10058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214"/>
                </a:solidFill>
                <a:latin typeface="Segoe UI"/>
              </a:rPr>
              <a:t>Al-Kawari villa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11214"/>
                </a:solidFill>
                <a:latin typeface="Segoe UI"/>
              </a:rPr>
              <a:t>377 elements found and measured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4160520"/>
            <a:ext cx="4846320" cy="10058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214"/>
                </a:solidFill>
                <a:latin typeface="Segoe UI"/>
              </a:rPr>
              <a:t>Al-Sulaiti villa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11214"/>
                </a:solidFill>
                <a:latin typeface="Segoe UI"/>
              </a:rPr>
              <a:t>348 elements found and measured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QUANTITIES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Step 3 — Calculating the BOQ quantities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3545738" cy="12344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214"/>
                </a:solidFill>
                <a:latin typeface="Segoe UI"/>
              </a:rPr>
              <a:t>Concrete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214"/>
                </a:solidFill>
                <a:latin typeface="Segoe UI"/>
              </a:rPr>
              <a:t>Footings, ground beams, neck columns, slab on grade, columns &amp; walls, beams, slabs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645920"/>
            <a:ext cx="3545738" cy="12344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214"/>
                </a:solidFill>
                <a:latin typeface="Segoe UI"/>
              </a:rPr>
              <a:t>Blinding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214"/>
                </a:solidFill>
                <a:latin typeface="Segoe UI"/>
              </a:rPr>
              <a:t>Under footings (and ground beams, if Static Group measures it that way)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645920"/>
            <a:ext cx="3545738" cy="12344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214"/>
                </a:solidFill>
                <a:latin typeface="Segoe UI"/>
              </a:rPr>
              <a:t>Earthworks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214"/>
                </a:solidFill>
                <a:latin typeface="Segoe UI"/>
              </a:rPr>
              <a:t>Excavation, removal, backfill — needs the natural ground level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3545738" cy="12344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214"/>
                </a:solidFill>
                <a:latin typeface="Segoe UI"/>
              </a:rPr>
              <a:t>Waterproofing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214"/>
                </a:solidFill>
                <a:latin typeface="Segoe UI"/>
              </a:rPr>
              <a:t>Below-ground surfaces of footings and beams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978" y="3108960"/>
            <a:ext cx="3545738" cy="12344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214"/>
                </a:solidFill>
                <a:latin typeface="Segoe UI"/>
              </a:rPr>
              <a:t>Block work &amp; plaster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214"/>
                </a:solidFill>
                <a:latin typeface="Segoe UI"/>
              </a:rPr>
              <a:t>Wall areas by thickness, internal / external faces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3108960"/>
            <a:ext cx="3545738" cy="12344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214"/>
                </a:solidFill>
                <a:latin typeface="Segoe UI"/>
              </a:rPr>
              <a:t>Lintels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214"/>
                </a:solidFill>
                <a:latin typeface="Segoe UI"/>
              </a:rPr>
              <a:t>Over doors and windows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72000"/>
            <a:ext cx="3545738" cy="12344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214"/>
                </a:solidFill>
                <a:latin typeface="Segoe UI"/>
              </a:rPr>
              <a:t>Manholes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214"/>
                </a:solidFill>
                <a:latin typeface="Segoe UI"/>
              </a:rPr>
              <a:t>Counted from drainage and electrical drawings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4572000"/>
            <a:ext cx="3545738" cy="12344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214"/>
                </a:solidFill>
                <a:latin typeface="Segoe UI"/>
              </a:rPr>
              <a:t>Tanks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214"/>
                </a:solidFill>
                <a:latin typeface="Segoe UI"/>
              </a:rPr>
              <a:t>From tank sizes the estimator enters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4572000"/>
            <a:ext cx="3545738" cy="12344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214"/>
                </a:solidFill>
                <a:latin typeface="Segoe UI"/>
              </a:rPr>
              <a:t>Boundary wall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214"/>
                </a:solidFill>
                <a:latin typeface="Segoe UI"/>
              </a:rPr>
              <a:t>From length and typical section the estimator enters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BOQ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Step 4 — The BOQ in Static Group's own format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4864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Same sections, codes and wording as Static Group's real BOQs (learned from Al-Kawari and Al-Sulaiti).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57 standard BOQ items are known to the system.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Every line shows: code, description, unit, quantity, status, confidence, source and review state.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Lines are never filled with a number that is not supported — blank means 'not final yet'.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Exports to Excel in the same structure.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If a client's BOQ has a line the system does not know, it is flagged as 'New BOQ item detected'.</a:t>
            </a:r>
          </a:p>
        </p:txBody>
      </p:sp>
      <p:pic>
        <p:nvPicPr>
          <p:cNvPr id="10" name="Picture 9" descr="bo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5394960" cy="3371850"/>
          </a:xfrm>
          <a:prstGeom prst="rect">
            <a:avLst/>
          </a:prstGeom>
          <a:ln w="12700">
            <a:solidFill>
              <a:srgbClr val="E2E4E7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Five labels tell you how far to trust a line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2036003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Calculated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The measuring rule is confirmed by an estimator and all the information is there.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82296" cy="2743200"/>
          </a:xfrm>
          <a:prstGeom prst="rect">
            <a:avLst/>
          </a:prstGeom>
          <a:solidFill>
            <a:srgbClr val="1D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13243" y="1645920"/>
            <a:ext cx="2036003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Estimated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Uses a rule learned from past projects (or a temporary assumption) that no estimator has confirmed yet.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3243" y="1645920"/>
            <a:ext cx="82296" cy="2743200"/>
          </a:xfrm>
          <a:prstGeom prst="rect">
            <a:avLst/>
          </a:prstGeom>
          <a:solidFill>
            <a:srgbClr val="2B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77846" y="1645920"/>
            <a:ext cx="2036003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Needs Review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A person must decide: the rule is open (several options shown) or a measured value must be checked.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7846" y="1645920"/>
            <a:ext cx="82296" cy="2743200"/>
          </a:xfrm>
          <a:prstGeom prst="rect">
            <a:avLst/>
          </a:prstGeom>
          <a:solidFill>
            <a:srgbClr val="B7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42449" y="1645920"/>
            <a:ext cx="2036003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Missing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Information is not in the drawings — e.g. ground level or tank sizes must be entered.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42449" y="1645920"/>
            <a:ext cx="82296" cy="27432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7052" y="1645920"/>
            <a:ext cx="2036003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Lump Sum / Excluded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No measurement needed (e.g. preliminaries, design, permits).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7052" y="1645920"/>
            <a:ext cx="82296" cy="2743200"/>
          </a:xfrm>
          <a:prstGeom prst="rect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11214"/>
                </a:solidFill>
                <a:latin typeface="Segoe UI"/>
              </a:rPr>
              <a:t>Nothing moves to 'Calculated' by itself. An unknown or assumed rule can never produce a final quantity.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EVIDENCE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“Where did this number come from?”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120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Click any BOQ line to open its evidence on the right.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You see: the quantity, the reason for its status, the rule used, the formula and the source drawings.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Below that: every element that was measured, with its sizes.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Elements missing a dimension are listed first — they are why the line needs review.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'Drawing' opens the drawing and highlights the exact element.</a:t>
            </a:r>
          </a:p>
        </p:txBody>
      </p:sp>
      <p:pic>
        <p:nvPicPr>
          <p:cNvPr id="10" name="Picture 9" descr="eviden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600200"/>
            <a:ext cx="5760720" cy="3600450"/>
          </a:xfrm>
          <a:prstGeom prst="rect">
            <a:avLst/>
          </a:prstGeom>
          <a:ln w="12700">
            <a:solidFill>
              <a:srgbClr val="E2E4E7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The drawing viewer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120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Shows the real CAD drawing inside the application — zoom, pan, fit to screen.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Measured elements are coloured by type; the selected one is outlined.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Side panel: the element's sizes, quantity, formula and layer.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Layers can be switched on and off.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Opens automatically on the right element when you click 'Drawing' in the BOQ.</a:t>
            </a:r>
          </a:p>
        </p:txBody>
      </p:sp>
      <p:pic>
        <p:nvPicPr>
          <p:cNvPr id="10" name="Picture 9" descr="view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600200"/>
            <a:ext cx="5760720" cy="3600450"/>
          </a:xfrm>
          <a:prstGeom prst="rect">
            <a:avLst/>
          </a:prstGeom>
          <a:ln w="12700">
            <a:solidFill>
              <a:srgbClr val="E2E4E7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Learning from Static Group's past projects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852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Al-Kawari and Al-Sulaiti have drawings AND Static Group's own priced BOQ.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The system measures those drawings itself and compares, line by line, with Static Group's figures.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The goal is not to copy old numbers — it is to discover how Static Group measures.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Big differences are shown, not hidden or 'tuned away'. Examples today: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5F646D"/>
                </a:solidFill>
                <a:latin typeface="Segoe UI"/>
              </a:rPr>
              <a:t>–  Al-Kawari ground beams +1.2 % (good match) · Al-Sulaiti footings −4.4 % (good match)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5F646D"/>
                </a:solidFill>
                <a:latin typeface="Segoe UI"/>
              </a:rPr>
              <a:t>–  Al-Kawari footings −9.2 % · Al-Sulaiti ground beams −90.5 % (tie-beam depths not readable — under investigation)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Each line explains 'why is this different?' using data only.</a:t>
            </a:r>
          </a:p>
        </p:txBody>
      </p:sp>
      <p:pic>
        <p:nvPicPr>
          <p:cNvPr id="10" name="Picture 9" descr="benchm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00200"/>
            <a:ext cx="5120640" cy="3200400"/>
          </a:xfrm>
          <a:prstGeom prst="rect">
            <a:avLst/>
          </a:prstGeom>
          <a:ln w="12700">
            <a:solidFill>
              <a:srgbClr val="E2E4E7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METHODOLOGY — TURNING HABITS INTO WRITTEN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The 22 measuring rules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Some Static Group practices are not written down. Examples: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How is column height measured — floor to floor, or to the underside of the slab?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Is beam depth measured full, or below the slab?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How far does blinding project beyond the concrete?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How much working space is added around excavation?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The system lists these as 22 rules. Each rule has a status: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260215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214"/>
                </a:solidFill>
                <a:latin typeface="Segoe UI"/>
              </a:rPr>
              <a:t>CONFIRMED · 0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11214"/>
                </a:solidFill>
                <a:latin typeface="Segoe UI"/>
              </a:rPr>
              <a:t>Approved by an estimator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06240"/>
            <a:ext cx="82296" cy="1143000"/>
          </a:xfrm>
          <a:prstGeom prst="rect">
            <a:avLst/>
          </a:prstGeom>
          <a:solidFill>
            <a:srgbClr val="1D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9393" y="4206240"/>
            <a:ext cx="260215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214"/>
                </a:solidFill>
                <a:latin typeface="Segoe UI"/>
              </a:rPr>
              <a:t>INFERRED · 3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11214"/>
                </a:solidFill>
                <a:latin typeface="Segoe UI"/>
              </a:rPr>
              <a:t>Seen in past projects, not yet confirmed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9393" y="4206240"/>
            <a:ext cx="82296" cy="1143000"/>
          </a:xfrm>
          <a:prstGeom prst="rect">
            <a:avLst/>
          </a:prstGeom>
          <a:solidFill>
            <a:srgbClr val="2B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0146" y="4206240"/>
            <a:ext cx="260215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214"/>
                </a:solidFill>
                <a:latin typeface="Segoe UI"/>
              </a:rPr>
              <a:t>ASSUMED · 1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11214"/>
                </a:solidFill>
                <a:latin typeface="Segoe UI"/>
              </a:rPr>
              <a:t>Temporary assumption (storey level)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0146" y="4206240"/>
            <a:ext cx="82296" cy="1143000"/>
          </a:xfrm>
          <a:prstGeom prst="rect">
            <a:avLst/>
          </a:prstGeom>
          <a:solidFill>
            <a:srgbClr val="B7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40899" y="4206240"/>
            <a:ext cx="260215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214"/>
                </a:solidFill>
                <a:latin typeface="Segoe UI"/>
              </a:rPr>
              <a:t>UNKNOWN · 18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11214"/>
                </a:solidFill>
                <a:latin typeface="Segoe UI"/>
              </a:rPr>
              <a:t>Not decided — options shown, no value chosen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40899" y="4206240"/>
            <a:ext cx="82296" cy="1143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The Rule Approval screen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One card per rule: the question, the evidence from past projects and why it matters.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Each option shows the quantity it would give on every project, next to Static Group's real figure.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Buttons: Approve rule · Keep unconfirmed (only adds a note) · Add note · Reject / Reopen · View evidence.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Approving asks for confirmation, then recalculates only the projects that use the rule.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If options give the same number on a project, the card explains why (e.g. no slabs detected on Al-Sulaiti).</a:t>
            </a:r>
          </a:p>
        </p:txBody>
      </p:sp>
      <p:pic>
        <p:nvPicPr>
          <p:cNvPr id="10" name="Picture 9" descr="rul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00200"/>
            <a:ext cx="5669280" cy="3543300"/>
          </a:xfrm>
          <a:prstGeom prst="rect">
            <a:avLst/>
          </a:prstGeom>
          <a:ln w="12700">
            <a:solidFill>
              <a:srgbClr val="E2E4E7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300" b="1">
                <a:solidFill>
                  <a:srgbClr val="111214"/>
                </a:solidFill>
                <a:latin typeface="Segoe UI"/>
              </a:rPr>
              <a:t>Validation sessions — who decided what, and when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11214"/>
                </a:solidFill>
                <a:latin typeface="Segoe UI"/>
              </a:rPr>
              <a:t>•  The estimator starts a 'validation session' with their name before reviewing.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11214"/>
                </a:solidFill>
                <a:latin typeface="Segoe UI"/>
              </a:rPr>
              <a:t>•  Every decision in that session is tagged to it: rules confirmed, rejected or kept open, and BOQ line decisions.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11214"/>
                </a:solidFill>
                <a:latin typeface="Segoe UI"/>
              </a:rPr>
              <a:t>•  Finishing the session freezes a summary: what was reviewed, what changed, which projects were recalculated.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11214"/>
                </a:solidFill>
                <a:latin typeface="Segoe UI"/>
              </a:rPr>
              <a:t>•  A session started by mistake can be cancelled — decisions already made are kept, nothing is erased.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11214"/>
                </a:solidFill>
                <a:latin typeface="Segoe UI"/>
              </a:rPr>
              <a:t>•  Only one session can be open at a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VALIDATION — ACCEPT, CORRECT, REJECT OR KEEP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Checking every BOQ line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60215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214"/>
                </a:solidFill>
                <a:latin typeface="Segoe UI"/>
              </a:rPr>
              <a:t>ACCEPT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214"/>
                </a:solidFill>
                <a:latin typeface="Segoe UI"/>
              </a:rPr>
              <a:t>Approves the computer's quantity. Not possible when there is no computer quantity (e.g. rule still unknown).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82296" cy="1417320"/>
          </a:xfrm>
          <a:prstGeom prst="rect">
            <a:avLst/>
          </a:prstGeom>
          <a:solidFill>
            <a:srgbClr val="1D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79393" y="1554480"/>
            <a:ext cx="260215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214"/>
                </a:solidFill>
                <a:latin typeface="Segoe UI"/>
              </a:rPr>
              <a:t>CORRECT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214"/>
                </a:solidFill>
                <a:latin typeface="Segoe UI"/>
              </a:rPr>
              <a:t>The estimator types the right quantity and a short reason. The system stores both numbers and the difference.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9393" y="1554480"/>
            <a:ext cx="82296" cy="1417320"/>
          </a:xfrm>
          <a:prstGeom prst="rect">
            <a:avLst/>
          </a:prstGeom>
          <a:solidFill>
            <a:srgbClr val="2B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0146" y="1554480"/>
            <a:ext cx="260215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214"/>
                </a:solidFill>
                <a:latin typeface="Segoe UI"/>
              </a:rPr>
              <a:t>REJECT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214"/>
                </a:solidFill>
                <a:latin typeface="Segoe UI"/>
              </a:rPr>
              <a:t>The proposal is wrong. A reason is required. No quantity is kept.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6" y="1554480"/>
            <a:ext cx="82296" cy="14173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40899" y="1554480"/>
            <a:ext cx="260215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214"/>
                </a:solidFill>
                <a:latin typeface="Segoe UI"/>
              </a:rPr>
              <a:t>KEEP UNCONFIRMED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214"/>
                </a:solidFill>
                <a:latin typeface="Segoe UI"/>
              </a:rPr>
              <a:t>Not decided yet. Nothing becomes final.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40899" y="1554480"/>
            <a:ext cx="82296" cy="1417320"/>
          </a:xfrm>
          <a:prstGeom prst="rect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alid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154680"/>
            <a:ext cx="4901184" cy="3063240"/>
          </a:xfrm>
          <a:prstGeom prst="rect">
            <a:avLst/>
          </a:prstGeom>
          <a:ln w="12700">
            <a:solidFill>
              <a:srgbClr val="E2E4E7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REVISIONS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Baselines and drawing revisions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A baseline is a frozen set of quantities to compare against: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Static Group's existing BOQ, an imported client BOQ, or quantities the estimator approved.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Once saved it can never be changed — each baseline keeps its revision, source and date.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When new drawings arrive, the system compares the baseline with the new result, line by line: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baseline quantity · new quantity · difference · estimator's quantity · status · rule · drawing revision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Clearly lists what was ADDED, OMITTED, CHANGED, or cannot be compared yet.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If the computer's quantity changes after a decision, that decision is marked 'stale' and must be re-checked.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Honest status: built and tested, but not yet validated on a real revised drawing set.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Information the drawings cannot give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11214"/>
                </a:solidFill>
                <a:latin typeface="Segoe UI"/>
              </a:rPr>
              <a:t>•  Some figures are not in the CAD files in a readable form. The estimator enters them once per project: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5F646D"/>
                </a:solidFill>
                <a:latin typeface="Segoe UI"/>
              </a:rPr>
              <a:t>–  Natural ground level (needed for excavation and backfill)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5F646D"/>
                </a:solidFill>
                <a:latin typeface="Segoe UI"/>
              </a:rPr>
              <a:t>–  Tank sizes (length, width, height, wall / base / cover thickness)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5F646D"/>
                </a:solidFill>
                <a:latin typeface="Segoe UI"/>
              </a:rPr>
              <a:t>–  Boundary wall length and typical section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11214"/>
                </a:solidFill>
                <a:latin typeface="Segoe UI"/>
              </a:rPr>
              <a:t>•  Everything entered is labelled 'User input' on the quantities it affects and is recorded in the audit trail.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11214"/>
                </a:solidFill>
                <a:latin typeface="Segoe UI"/>
              </a:rPr>
              <a:t>•  If a value is not known, leave it empty — the lines stay 'Missing'. The system never fills the gap itself.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The review queue — the engineer's to-do list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11214"/>
                </a:solidFill>
                <a:latin typeface="Segoe UI"/>
              </a:rPr>
              <a:t>•  Collects everything that needs a person, in priority order: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5F646D"/>
                </a:solidFill>
                <a:latin typeface="Segoe UI"/>
              </a:rPr>
              <a:t>–  1. Missing dimensions  2. Drawing conflicts  3. Missing project inputs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5F646D"/>
                </a:solidFill>
                <a:latin typeface="Segoe UI"/>
              </a:rPr>
              <a:t>–  4. Large differences from past BOQs  5. Unconfirmed measuring rules  6. Other checks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11214"/>
                </a:solidFill>
                <a:latin typeface="Segoe UI"/>
              </a:rPr>
              <a:t>•  Each item shows the problem, the element, the reason, the evidence and the impact.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11214"/>
                </a:solidFill>
                <a:latin typeface="Segoe UI"/>
              </a:rPr>
              <a:t>•  Actions: Approve · Resolve · Reject · Reopen — and Correct where a value can be entered (e.g. slab thickness).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11214"/>
                </a:solidFill>
                <a:latin typeface="Segoe UI"/>
              </a:rPr>
              <a:t>•  Every action is recorded with name, date and comment.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MANAGEMENT — THE WHOLE PICTURE IN 30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Management dashboard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49377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Real figures only: projects, BOQ lines, items requiring review, missing information, pending rules.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Project overview with a progress bar for each project.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'Attention required' list, most important first.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'Automation readiness' table: why quantities are not final yet — no fake percentages.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Time or cost savings are deliberately not shown until they are measured.</a:t>
            </a:r>
          </a:p>
        </p:txBody>
      </p:sp>
      <p:pic>
        <p:nvPicPr>
          <p:cNvPr id="10" name="Picture 9" descr="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600200"/>
            <a:ext cx="5943600" cy="3714750"/>
          </a:xfrm>
          <a:prstGeom prst="rect">
            <a:avLst/>
          </a:prstGeom>
          <a:ln w="12700">
            <a:solidFill>
              <a:srgbClr val="E2E4E7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The project assistant (AI)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120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Ask questions in plain English, for example: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5F646D"/>
                </a:solidFill>
                <a:latin typeface="Segoe UI"/>
              </a:rPr>
              <a:t>–  Which projects need attention?  ·  What information is missing?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5F646D"/>
                </a:solidFill>
                <a:latin typeface="Segoe UI"/>
              </a:rPr>
              <a:t>–  Why is beam concrete different?  ·  Which BOQ items need review?  ·  What changed?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Answers come only from the application's own data — with the sources listed underneath.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It never measures drawings and never answers from general memory.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If it cannot answer from the data, it says so instead of guessing.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214"/>
                </a:solidFill>
                <a:latin typeface="Segoe UI"/>
              </a:rPr>
              <a:t>•  Works offline by default; no project data leaves the computer.</a:t>
            </a:r>
          </a:p>
        </p:txBody>
      </p:sp>
      <p:pic>
        <p:nvPicPr>
          <p:cNvPr id="10" name="Picture 9" descr="assista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600200"/>
            <a:ext cx="5760720" cy="3600450"/>
          </a:xfrm>
          <a:prstGeom prst="rect">
            <a:avLst/>
          </a:prstGeom>
          <a:ln w="12700">
            <a:solidFill>
              <a:srgbClr val="E2E4E7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Daily management report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120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One page, readable in under a minute: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critical items · items needing attention · pending decisions · quantity changes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recommended actions, large differences from past BOQs, missing information per project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Can be saved as a snapshot each day, so new and resolved issues are shown the next day.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Can be printed, or produced automatically every morning on a schedule.</a:t>
            </a:r>
          </a:p>
        </p:txBody>
      </p:sp>
      <p:pic>
        <p:nvPicPr>
          <p:cNvPr id="10" name="Picture 9" descr="repo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600200"/>
            <a:ext cx="5760720" cy="3600450"/>
          </a:xfrm>
          <a:prstGeom prst="rect">
            <a:avLst/>
          </a:prstGeom>
          <a:ln w="12700">
            <a:solidFill>
              <a:srgbClr val="E2E4E7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PILOT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Measuring the real value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For the first live project we record, side by side: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Manual: take-off hours, BOQ preparation hours, review hours, missing items found, corrections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System: processing time, calculation time, BOQ generation time, estimator review hours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Quantities: manual vs system for chosen BOQ items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F646D"/>
                </a:solidFill>
                <a:latin typeface="Segoe UI"/>
              </a:rPr>
              <a:t>–  Estimator decisions: accepted, corrected, rejected, still open — and the size of corrections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A difference is only shown when both numbers exist.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No accuracy %, savings or ROI are claimed until real estimator data proves them.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All early figures are clearly labelled 'Preliminary'.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Audit trail and data safety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432907" cy="19202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214"/>
                </a:solidFill>
                <a:latin typeface="Segoe UI"/>
              </a:rPr>
              <a:t>Everything is recorded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11214"/>
                </a:solidFill>
                <a:latin typeface="Segoe UI"/>
              </a:rPr>
              <a:t>Rule decisions, line decisions, inputs, corrections, review actions, exports — with name, date, comment and before/after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645920"/>
            <a:ext cx="5432907" cy="19202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214"/>
                </a:solidFill>
                <a:latin typeface="Segoe UI"/>
              </a:rPr>
              <a:t>Nothing is overwritten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11214"/>
                </a:solidFill>
                <a:latin typeface="Segoe UI"/>
              </a:rPr>
              <a:t>Baselines are frozen. Old processing runs are kept. Rejected or reopened rules keep their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5432907" cy="19202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214"/>
                </a:solidFill>
                <a:latin typeface="Segoe UI"/>
              </a:rPr>
              <a:t>Stays in-house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11214"/>
                </a:solidFill>
                <a:latin typeface="Segoe UI"/>
              </a:rPr>
              <a:t>Runs on Static Group's computer. Drawings and BOQs are not sent to outside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3794760"/>
            <a:ext cx="5432907" cy="19202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214"/>
                </a:solidFill>
                <a:latin typeface="Segoe UI"/>
              </a:rPr>
              <a:t>Test data separated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11214"/>
                </a:solidFill>
                <a:latin typeface="Segoe UI"/>
              </a:rPr>
              <a:t>Test projects are archived: kept on disk, but excluded from dashboards, reports and the assistant.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Where we are today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3545738" cy="19202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3 reference projects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Ramzi, Al-Kawari, Al-Sulaiti — about 80 drawings each, all processed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645920"/>
            <a:ext cx="3545738" cy="19202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237 BOQ lines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79 · 82 · 76 lines. 24 lump sum / excluded. No measured line is final yet — by design.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645920"/>
            <a:ext cx="3545738" cy="19202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22 measuring rules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18 unknown · 3 inferred · 1 assumed · 0 confirmed — waiting for the estimator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3545738" cy="19202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Best matches so far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Al-Kawari ground beams +1.2 %, Al-Sulaiti footings −4.4 %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978" y="3794760"/>
            <a:ext cx="3545738" cy="19202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Known gaps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Annex buildings, parapets, door/window sizes, Al-Sulaiti slab boundaries and tie-beam depths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3794760"/>
            <a:ext cx="3545738" cy="192024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12700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11214"/>
                </a:solidFill>
                <a:latin typeface="Segoe UI"/>
              </a:rPr>
              <a:t>Quality checks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11214"/>
                </a:solidFill>
                <a:latin typeface="Segoe UI"/>
              </a:rPr>
              <a:t>105 automatic tests passing; screens checked on desktop sizes; production data untouched by testing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What we need from Static Group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214"/>
                </a:solidFill>
                <a:latin typeface="Segoe UI"/>
              </a:rPr>
              <a:t>•  About one hour of an estimator's time to decide the 22 measuring rules.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214"/>
                </a:solidFill>
                <a:latin typeface="Segoe UI"/>
              </a:rPr>
              <a:t>•  One real, unseen tender project: its drawing set (DXF) and, if available, the existing BOQ.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214"/>
                </a:solidFill>
                <a:latin typeface="Segoe UI"/>
              </a:rPr>
              <a:t>•  Drawing revision letters from the title blocks.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214"/>
                </a:solidFill>
                <a:latin typeface="Segoe UI"/>
              </a:rPr>
              <a:t>•  Ground level, tank sizes and boundary-wall section for that project.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214"/>
                </a:solidFill>
                <a:latin typeface="Segoe UI"/>
              </a:rPr>
              <a:t>•  A manual take-off of the same project (with hours) to compare against.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214"/>
                </a:solidFill>
                <a:latin typeface="Segoe UI"/>
              </a:rPr>
              <a:t>•  Later: a revised drawing set, to prove the revision comparison.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F646D"/>
                </a:solidFill>
                <a:latin typeface="Segoe UI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11214"/>
                </a:solidFill>
                <a:latin typeface="Segoe UI"/>
              </a:rPr>
              <a:t>The first live test — step by step</a:t>
            </a:r>
          </a:p>
        </p:txBody>
      </p:sp>
      <p:pic>
        <p:nvPicPr>
          <p:cNvPr id="5" name="Picture 4" descr="stati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57200"/>
            <a:ext cx="1606822" cy="3657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1325880"/>
            <a:ext cx="11094415" cy="0"/>
          </a:xfrm>
          <a:prstGeom prst="line">
            <a:avLst/>
          </a:prstGeom>
          <a:ln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F646D"/>
                </a:solidFill>
                <a:latin typeface="Segoe UI"/>
              </a:rPr>
              <a:t>Static Group · Automated Quantity Takeoff &amp; BOQ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>
                <a:solidFill>
                  <a:srgbClr val="5F646D"/>
                </a:solidFill>
                <a:latin typeface="Segoe UI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962851" cy="1051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1. New project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Upload drawings &amp; BOQ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66355" y="210769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1531" y="1691640"/>
            <a:ext cx="1962851" cy="105156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11214"/>
                </a:solidFill>
                <a:latin typeface="Segoe UI"/>
              </a:rPr>
              <a:t>2. Process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11214"/>
                </a:solidFill>
                <a:latin typeface="Segoe UI"/>
              </a:rPr>
              <a:t>Read &amp; measure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49246" y="210769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14422" y="1691640"/>
            <a:ext cx="1962851" cy="105156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11214"/>
                </a:solidFill>
                <a:latin typeface="Segoe UI"/>
              </a:rPr>
              <a:t>3. Register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11214"/>
                </a:solidFill>
                <a:latin typeface="Segoe UI"/>
              </a:rPr>
              <a:t>Enter revisions &amp; inputs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32137" y="210769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97313" y="1691640"/>
            <a:ext cx="1962851" cy="105156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11214"/>
                </a:solidFill>
                <a:latin typeface="Segoe UI"/>
              </a:rPr>
              <a:t>4. Baseline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11214"/>
                </a:solidFill>
                <a:latin typeface="Segoe UI"/>
              </a:rPr>
              <a:t>Freeze the existing BOQ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415028" y="210769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80204" y="1691640"/>
            <a:ext cx="1962851" cy="1051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5. Session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Estimator starts session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63240"/>
            <a:ext cx="1962851" cy="1051560"/>
          </a:xfrm>
          <a:prstGeom prst="roundRect">
            <a:avLst>
              <a:gd name="adj" fmla="val 8000"/>
            </a:avLst>
          </a:prstGeom>
          <a:solidFill>
            <a:srgbClr val="2B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6. Rules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Decide the 22 rules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566355" y="347929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31531" y="3063240"/>
            <a:ext cx="1962851" cy="105156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11214"/>
                </a:solidFill>
                <a:latin typeface="Segoe UI"/>
              </a:rPr>
              <a:t>7. Lines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11214"/>
                </a:solidFill>
                <a:latin typeface="Segoe UI"/>
              </a:rPr>
              <a:t>Accept / correct / reject / keep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49246" y="347929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14422" y="3063240"/>
            <a:ext cx="1962851" cy="105156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11214"/>
                </a:solidFill>
                <a:latin typeface="Segoe UI"/>
              </a:rPr>
              <a:t>8. Pilot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11214"/>
                </a:solidFill>
                <a:latin typeface="Segoe UI"/>
              </a:rPr>
              <a:t>Enter manual hours &amp; quantities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132137" y="347929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97313" y="3063240"/>
            <a:ext cx="1962851" cy="105156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11214"/>
                </a:solidFill>
                <a:latin typeface="Segoe UI"/>
              </a:rPr>
              <a:t>9. Compare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11214"/>
                </a:solidFill>
                <a:latin typeface="Segoe UI"/>
              </a:rPr>
              <a:t>Baseline vs system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15028" y="3479292"/>
            <a:ext cx="210312" cy="219456"/>
          </a:xfrm>
          <a:prstGeom prst="rightArrow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80204" y="3063240"/>
            <a:ext cx="1962851" cy="1051560"/>
          </a:xfrm>
          <a:prstGeom prst="roundRect">
            <a:avLst>
              <a:gd name="adj" fmla="val 8000"/>
            </a:avLst>
          </a:prstGeom>
          <a:solidFill>
            <a:srgbClr val="2B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10. Finish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Close session, export BOQ &amp;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26280"/>
            <a:ext cx="10972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11214"/>
                </a:solidFill>
                <a:latin typeface="Segoe UI"/>
              </a:rPr>
              <a:t>•  Capture: decision counts, size of corrections, missing information found, time spent — manual and automated.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atic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2811938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73736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9A9FA6"/>
                </a:solidFill>
                <a:latin typeface="Segoe U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Ready for a controlled live test with a real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78992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D5D8DC"/>
                </a:solidFill>
                <a:latin typeface="Segoe UI"/>
              </a:rPr>
              <a:t>Not yet ready for unsupervised production use, because:</a:t>
            </a:r>
          </a:p>
          <a:p>
            <a:pPr algn="l"/>
            <a:r>
              <a:rPr sz="1700" b="0">
                <a:solidFill>
                  <a:srgbClr val="D5D8DC"/>
                </a:solidFill>
                <a:latin typeface="Segoe UI"/>
              </a:rPr>
              <a:t>•  the 22 measuring rules still need an estimator's decision</a:t>
            </a:r>
          </a:p>
          <a:p>
            <a:pPr algn="l"/>
            <a:r>
              <a:rPr sz="1700" b="0">
                <a:solidFill>
                  <a:srgbClr val="D5D8DC"/>
                </a:solidFill>
                <a:latin typeface="Segoe UI"/>
              </a:rPr>
              <a:t>•  project inputs (ground level, tanks, boundary wall) and drawing revisions are still missing</a:t>
            </a:r>
          </a:p>
          <a:p>
            <a:pPr algn="l"/>
            <a:r>
              <a:rPr sz="1700" b="0">
                <a:solidFill>
                  <a:srgbClr val="D5D8DC"/>
                </a:solidFill>
                <a:latin typeface="Segoe UI"/>
              </a:rPr>
              <a:t>•  some extraction gaps remain, and revision comparison is not yet proven on real revised drawings</a:t>
            </a:r>
          </a:p>
          <a:p>
            <a:pPr algn="l"/>
            <a:r>
              <a:rPr sz="1700" b="0">
                <a:solidFill>
                  <a:srgbClr val="D5D8DC"/>
                </a:solidFill>
                <a:latin typeface="Segoe UI"/>
              </a:rPr>
              <a:t>•  no real manual-vs-system comparison has been measured yet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The computer proposes. The estimator decides. Every number shows its proof.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