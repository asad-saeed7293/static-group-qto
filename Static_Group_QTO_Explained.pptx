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e67841f-1bb7-e6da-26d7-7f2d4351aa80}">
          <p14:sldIdLst>
            <p14:sldId id="256"/>
            <p14:sldId id="257"/>
          </p14:sldIdLst>
        </p14:section>
        <p14:section name="How it works" id="{27707069-f739-33e8-02e7-cc7e4cdd9e58}">
          <p14:sldIdLst>
            <p14:sldId id="258"/>
          </p14:sldIdLst>
        </p14:section>
        <p14:section name="Results" id="{2dbb9a2c-eb9a-1371-2b78-086c2cc5b40a}">
          <p14:sldIdLst>
            <p14:sldId id="259"/>
            <p14:sldId id="260"/>
            <p14:sldId id="261"/>
          </p14:sldIdLst>
        </p14:section>
        <p14:section name="Value" id="{99847e34-6e79-4732-654f-760f0e29a7ab}">
          <p14:sldIdLst>
            <p14:sldId id="262"/>
            <p14:sldId id="263"/>
          </p14:sldIdLst>
        </p14:section>
        <p14:section name="Next steps" id="{2a31646e-43b0-f0ee-5fe5-f87e54390019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explain in plain terms what the prototype automates and why it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Static Group · QTO &amp; BOQ Verification MVP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From CAD drawings to a checked BOQ — automatically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How the Static Group QTO prototype works, explained simply · Mr. Ramzi Villa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Today, quantities are measured by hand</a:t>
            </a:r>
            <a:endParaRPr lang="en-US" sz="3400" dirty="0"/>
          </a:p>
        </p:txBody>
      </p:sp>
      <p:sp>
        <p:nvSpPr>
          <p:cNvPr id="3" name="c1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2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3"/>
          <p:cNvSpPr txBox="1"/>
          <p:nvPr/>
        </p:nvSpPr>
        <p:spPr>
          <a:xfrm>
            <a:off x="1417320" y="13990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Open every drawing</a:t>
            </a:r>
            <a:endParaRPr lang="en-US" sz="1800" dirty="0"/>
          </a:p>
        </p:txBody>
      </p:sp>
      <p:sp>
        <p:nvSpPr>
          <p:cNvPr id="6" name="t4"/>
          <p:cNvSpPr txBox="1"/>
          <p:nvPr/>
        </p:nvSpPr>
        <p:spPr>
          <a:xfrm>
            <a:off x="1417320" y="17190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Plans, schedules, sections — spread across many sheets</a:t>
            </a:r>
            <a:endParaRPr lang="en-US" sz="1400" dirty="0"/>
          </a:p>
        </p:txBody>
      </p:sp>
      <p:sp>
        <p:nvSpPr>
          <p:cNvPr id="7" name="c5"/>
          <p:cNvSpPr/>
          <p:nvPr/>
        </p:nvSpPr>
        <p:spPr>
          <a:xfrm>
            <a:off x="640080" y="2313432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6"/>
          <p:cNvSpPr txBox="1"/>
          <p:nvPr/>
        </p:nvSpPr>
        <p:spPr>
          <a:xfrm>
            <a:off x="64008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7"/>
          <p:cNvSpPr txBox="1"/>
          <p:nvPr/>
        </p:nvSpPr>
        <p:spPr>
          <a:xfrm>
            <a:off x="1417320" y="22951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Find each element</a:t>
            </a:r>
            <a:endParaRPr lang="en-US" sz="1800" dirty="0"/>
          </a:p>
        </p:txBody>
      </p:sp>
      <p:sp>
        <p:nvSpPr>
          <p:cNvPr id="10" name="t8"/>
          <p:cNvSpPr txBox="1"/>
          <p:nvPr/>
        </p:nvSpPr>
        <p:spPr>
          <a:xfrm>
            <a:off x="1417320" y="26151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Footings, columns, beams, slabs, walls</a:t>
            </a:r>
            <a:endParaRPr lang="en-US" sz="1400" dirty="0"/>
          </a:p>
        </p:txBody>
      </p:sp>
      <p:sp>
        <p:nvSpPr>
          <p:cNvPr id="11" name="c9"/>
          <p:cNvSpPr/>
          <p:nvPr/>
        </p:nvSpPr>
        <p:spPr>
          <a:xfrm>
            <a:off x="640080" y="3209544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10"/>
          <p:cNvSpPr txBox="1"/>
          <p:nvPr/>
        </p:nvSpPr>
        <p:spPr>
          <a:xfrm>
            <a:off x="640080" y="3209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11"/>
          <p:cNvSpPr txBox="1"/>
          <p:nvPr/>
        </p:nvSpPr>
        <p:spPr>
          <a:xfrm>
            <a:off x="1417320" y="319125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Read the sizes</a:t>
            </a:r>
            <a:endParaRPr lang="en-US" sz="1800" dirty="0"/>
          </a:p>
        </p:txBody>
      </p:sp>
      <p:sp>
        <p:nvSpPr>
          <p:cNvPr id="14" name="t12"/>
          <p:cNvSpPr txBox="1"/>
          <p:nvPr/>
        </p:nvSpPr>
        <p:spPr>
          <a:xfrm>
            <a:off x="1417320" y="35112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Length and width on plans; depth and thickness on other sheets</a:t>
            </a:r>
            <a:endParaRPr lang="en-US" sz="1400" dirty="0"/>
          </a:p>
        </p:txBody>
      </p:sp>
      <p:sp>
        <p:nvSpPr>
          <p:cNvPr id="15" name="c13"/>
          <p:cNvSpPr/>
          <p:nvPr/>
        </p:nvSpPr>
        <p:spPr>
          <a:xfrm>
            <a:off x="640080" y="4105656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14"/>
          <p:cNvSpPr txBox="1"/>
          <p:nvPr/>
        </p:nvSpPr>
        <p:spPr>
          <a:xfrm>
            <a:off x="640080" y="4105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15"/>
          <p:cNvSpPr txBox="1"/>
          <p:nvPr/>
        </p:nvSpPr>
        <p:spPr>
          <a:xfrm>
            <a:off x="1417320" y="40873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Calculate in Excel</a:t>
            </a:r>
            <a:endParaRPr lang="en-US" sz="1800" dirty="0"/>
          </a:p>
        </p:txBody>
      </p:sp>
      <p:sp>
        <p:nvSpPr>
          <p:cNvPr id="18" name="t16"/>
          <p:cNvSpPr txBox="1"/>
          <p:nvPr/>
        </p:nvSpPr>
        <p:spPr>
          <a:xfrm>
            <a:off x="1417320" y="44074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 × W × D for hundreds of items</a:t>
            </a:r>
            <a:endParaRPr lang="en-US" sz="1400" dirty="0"/>
          </a:p>
        </p:txBody>
      </p:sp>
      <p:sp>
        <p:nvSpPr>
          <p:cNvPr id="19" name="c17"/>
          <p:cNvSpPr/>
          <p:nvPr/>
        </p:nvSpPr>
        <p:spPr>
          <a:xfrm>
            <a:off x="640080" y="5001768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18"/>
          <p:cNvSpPr txBox="1"/>
          <p:nvPr/>
        </p:nvSpPr>
        <p:spPr>
          <a:xfrm>
            <a:off x="640080" y="5001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19"/>
          <p:cNvSpPr txBox="1"/>
          <p:nvPr/>
        </p:nvSpPr>
        <p:spPr>
          <a:xfrm>
            <a:off x="1417320" y="4983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Check against the BOQ</a:t>
            </a:r>
            <a:endParaRPr lang="en-US" sz="1800" dirty="0"/>
          </a:p>
        </p:txBody>
      </p:sp>
      <p:sp>
        <p:nvSpPr>
          <p:cNvPr id="22" name="t20"/>
          <p:cNvSpPr txBox="1"/>
          <p:nvPr/>
        </p:nvSpPr>
        <p:spPr>
          <a:xfrm>
            <a:off x="1417320" y="5303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Line by line, then chase every difference</a:t>
            </a:r>
            <a:endParaRPr lang="en-US" sz="1400" dirty="0"/>
          </a:p>
        </p:txBody>
      </p:sp>
      <p:sp>
        <p:nvSpPr>
          <p:cNvPr id="23" name="painCard"/>
          <p:cNvSpPr/>
          <p:nvPr/>
        </p:nvSpPr>
        <p:spPr>
          <a:xfrm>
            <a:off x="6949440" y="1417320"/>
            <a:ext cx="466344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21"/>
          <p:cNvSpPr txBox="1"/>
          <p:nvPr/>
        </p:nvSpPr>
        <p:spPr>
          <a:xfrm>
            <a:off x="7269480" y="1691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The cost</a:t>
            </a:r>
            <a:endParaRPr lang="en-US" sz="2200" dirty="0"/>
          </a:p>
        </p:txBody>
      </p:sp>
      <p:sp>
        <p:nvSpPr>
          <p:cNvPr id="25" name="t22"/>
          <p:cNvSpPr txBox="1"/>
          <p:nvPr/>
        </p:nvSpPr>
        <p:spPr>
          <a:xfrm>
            <a:off x="7269480" y="224028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Days of work per project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Easy to miss or double-count items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Hard to prove where a number came from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Errors in the drawings often go unnoticed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drawing revision means starting again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system does the measuring; the engineer reviews</a:t>
            </a:r>
            <a:endParaRPr lang="en-US" sz="3400" dirty="0"/>
          </a:p>
        </p:txBody>
      </p:sp>
      <p:sp>
        <p:nvSpPr>
          <p:cNvPr id="3" name="step0"/>
          <p:cNvSpPr/>
          <p:nvPr/>
        </p:nvSpPr>
        <p:spPr>
          <a:xfrm>
            <a:off x="548640" y="1600200"/>
            <a:ext cx="1481328" cy="26974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23"/>
          <p:cNvSpPr/>
          <p:nvPr/>
        </p:nvSpPr>
        <p:spPr>
          <a:xfrm>
            <a:off x="1014984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24"/>
          <p:cNvSpPr txBox="1"/>
          <p:nvPr/>
        </p:nvSpPr>
        <p:spPr>
          <a:xfrm>
            <a:off x="101498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25"/>
          <p:cNvSpPr txBox="1"/>
          <p:nvPr/>
        </p:nvSpPr>
        <p:spPr>
          <a:xfrm>
            <a:off x="658368" y="256032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Read</a:t>
            </a:r>
            <a:endParaRPr lang="en-US" sz="1800" dirty="0"/>
          </a:p>
        </p:txBody>
      </p:sp>
      <p:sp>
        <p:nvSpPr>
          <p:cNvPr id="7" name="t26"/>
          <p:cNvSpPr txBox="1"/>
          <p:nvPr/>
        </p:nvSpPr>
        <p:spPr>
          <a:xfrm>
            <a:off x="658368" y="3017520"/>
            <a:ext cx="1261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Opens every DXF file of the project</a:t>
            </a:r>
            <a:endParaRPr lang="en-US" sz="1300" dirty="0"/>
          </a:p>
        </p:txBody>
      </p:sp>
      <p:sp>
        <p:nvSpPr>
          <p:cNvPr id="8" name="step1"/>
          <p:cNvSpPr/>
          <p:nvPr/>
        </p:nvSpPr>
        <p:spPr>
          <a:xfrm>
            <a:off x="2139696" y="1600200"/>
            <a:ext cx="1481328" cy="26974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27"/>
          <p:cNvSpPr/>
          <p:nvPr/>
        </p:nvSpPr>
        <p:spPr>
          <a:xfrm>
            <a:off x="260604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28"/>
          <p:cNvSpPr txBox="1"/>
          <p:nvPr/>
        </p:nvSpPr>
        <p:spPr>
          <a:xfrm>
            <a:off x="26060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29"/>
          <p:cNvSpPr txBox="1"/>
          <p:nvPr/>
        </p:nvSpPr>
        <p:spPr>
          <a:xfrm>
            <a:off x="2249424" y="256032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Identify</a:t>
            </a:r>
            <a:endParaRPr lang="en-US" sz="1800" dirty="0"/>
          </a:p>
        </p:txBody>
      </p:sp>
      <p:sp>
        <p:nvSpPr>
          <p:cNvPr id="12" name="t30"/>
          <p:cNvSpPr txBox="1"/>
          <p:nvPr/>
        </p:nvSpPr>
        <p:spPr>
          <a:xfrm>
            <a:off x="2249424" y="3017520"/>
            <a:ext cx="1261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Finds footings, columns, beams, slabs, walls from CAD layers and tags</a:t>
            </a:r>
            <a:endParaRPr lang="en-US" sz="1300" dirty="0"/>
          </a:p>
        </p:txBody>
      </p:sp>
      <p:sp>
        <p:nvSpPr>
          <p:cNvPr id="13" name="step2"/>
          <p:cNvSpPr/>
          <p:nvPr/>
        </p:nvSpPr>
        <p:spPr>
          <a:xfrm>
            <a:off x="3730752" y="1600200"/>
            <a:ext cx="1481328" cy="26974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31"/>
          <p:cNvSpPr/>
          <p:nvPr/>
        </p:nvSpPr>
        <p:spPr>
          <a:xfrm>
            <a:off x="4197096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32"/>
          <p:cNvSpPr txBox="1"/>
          <p:nvPr/>
        </p:nvSpPr>
        <p:spPr>
          <a:xfrm>
            <a:off x="419709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33"/>
          <p:cNvSpPr txBox="1"/>
          <p:nvPr/>
        </p:nvSpPr>
        <p:spPr>
          <a:xfrm>
            <a:off x="3840480" y="256032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Measure</a:t>
            </a:r>
            <a:endParaRPr lang="en-US" sz="1800" dirty="0"/>
          </a:p>
        </p:txBody>
      </p:sp>
      <p:sp>
        <p:nvSpPr>
          <p:cNvPr id="17" name="t34"/>
          <p:cNvSpPr txBox="1"/>
          <p:nvPr/>
        </p:nvSpPr>
        <p:spPr>
          <a:xfrm>
            <a:off x="3840480" y="3017520"/>
            <a:ext cx="1261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Takes exact sizes from the drawn geometry</a:t>
            </a:r>
            <a:endParaRPr lang="en-US" sz="1300" dirty="0"/>
          </a:p>
        </p:txBody>
      </p:sp>
      <p:sp>
        <p:nvSpPr>
          <p:cNvPr id="18" name="step3"/>
          <p:cNvSpPr/>
          <p:nvPr/>
        </p:nvSpPr>
        <p:spPr>
          <a:xfrm>
            <a:off x="5321808" y="1600200"/>
            <a:ext cx="1481328" cy="26974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35"/>
          <p:cNvSpPr/>
          <p:nvPr/>
        </p:nvSpPr>
        <p:spPr>
          <a:xfrm>
            <a:off x="5788152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36"/>
          <p:cNvSpPr txBox="1"/>
          <p:nvPr/>
        </p:nvSpPr>
        <p:spPr>
          <a:xfrm>
            <a:off x="578815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37"/>
          <p:cNvSpPr txBox="1"/>
          <p:nvPr/>
        </p:nvSpPr>
        <p:spPr>
          <a:xfrm>
            <a:off x="5431536" y="256032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Look up</a:t>
            </a:r>
            <a:endParaRPr lang="en-US" sz="1800" dirty="0"/>
          </a:p>
        </p:txBody>
      </p:sp>
      <p:sp>
        <p:nvSpPr>
          <p:cNvPr id="22" name="t38"/>
          <p:cNvSpPr txBox="1"/>
          <p:nvPr/>
        </p:nvSpPr>
        <p:spPr>
          <a:xfrm>
            <a:off x="5431536" y="3017520"/>
            <a:ext cx="1261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Reads thickness and depth from the consultant's own schedules</a:t>
            </a:r>
            <a:endParaRPr lang="en-US" sz="1300" dirty="0"/>
          </a:p>
        </p:txBody>
      </p:sp>
      <p:sp>
        <p:nvSpPr>
          <p:cNvPr id="23" name="step4"/>
          <p:cNvSpPr/>
          <p:nvPr/>
        </p:nvSpPr>
        <p:spPr>
          <a:xfrm>
            <a:off x="6912864" y="1600200"/>
            <a:ext cx="1481328" cy="26974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39"/>
          <p:cNvSpPr/>
          <p:nvPr/>
        </p:nvSpPr>
        <p:spPr>
          <a:xfrm>
            <a:off x="7379208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40"/>
          <p:cNvSpPr txBox="1"/>
          <p:nvPr/>
        </p:nvSpPr>
        <p:spPr>
          <a:xfrm>
            <a:off x="737920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41"/>
          <p:cNvSpPr txBox="1"/>
          <p:nvPr/>
        </p:nvSpPr>
        <p:spPr>
          <a:xfrm>
            <a:off x="7022592" y="256032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Calculate</a:t>
            </a:r>
            <a:endParaRPr lang="en-US" sz="1800" dirty="0"/>
          </a:p>
        </p:txBody>
      </p:sp>
      <p:sp>
        <p:nvSpPr>
          <p:cNvPr id="27" name="t42"/>
          <p:cNvSpPr txBox="1"/>
          <p:nvPr/>
        </p:nvSpPr>
        <p:spPr>
          <a:xfrm>
            <a:off x="7022592" y="3017520"/>
            <a:ext cx="1261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Computes every volume with a visible formula</a:t>
            </a:r>
            <a:endParaRPr lang="en-US" sz="1300" dirty="0"/>
          </a:p>
        </p:txBody>
      </p:sp>
      <p:sp>
        <p:nvSpPr>
          <p:cNvPr id="28" name="step5"/>
          <p:cNvSpPr/>
          <p:nvPr/>
        </p:nvSpPr>
        <p:spPr>
          <a:xfrm>
            <a:off x="8503920" y="1600200"/>
            <a:ext cx="1481328" cy="269748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43"/>
          <p:cNvSpPr/>
          <p:nvPr/>
        </p:nvSpPr>
        <p:spPr>
          <a:xfrm>
            <a:off x="8970264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44"/>
          <p:cNvSpPr txBox="1"/>
          <p:nvPr/>
        </p:nvSpPr>
        <p:spPr>
          <a:xfrm>
            <a:off x="897026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45"/>
          <p:cNvSpPr txBox="1"/>
          <p:nvPr/>
        </p:nvSpPr>
        <p:spPr>
          <a:xfrm>
            <a:off x="8613648" y="256032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Compare</a:t>
            </a:r>
            <a:endParaRPr lang="en-US" sz="1800" dirty="0"/>
          </a:p>
        </p:txBody>
      </p:sp>
      <p:sp>
        <p:nvSpPr>
          <p:cNvPr id="32" name="t46"/>
          <p:cNvSpPr txBox="1"/>
          <p:nvPr/>
        </p:nvSpPr>
        <p:spPr>
          <a:xfrm>
            <a:off x="8613648" y="3017520"/>
            <a:ext cx="1261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Builds the BOQ and checks it against the client's BOQ</a:t>
            </a:r>
            <a:endParaRPr lang="en-US" sz="1300" dirty="0"/>
          </a:p>
        </p:txBody>
      </p:sp>
      <p:sp>
        <p:nvSpPr>
          <p:cNvPr id="33" name="step6"/>
          <p:cNvSpPr/>
          <p:nvPr/>
        </p:nvSpPr>
        <p:spPr>
          <a:xfrm>
            <a:off x="10094976" y="1600200"/>
            <a:ext cx="1481328" cy="269748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c47"/>
          <p:cNvSpPr/>
          <p:nvPr/>
        </p:nvSpPr>
        <p:spPr>
          <a:xfrm>
            <a:off x="10561320" y="182880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t48"/>
          <p:cNvSpPr txBox="1"/>
          <p:nvPr/>
        </p:nvSpPr>
        <p:spPr>
          <a:xfrm>
            <a:off x="105613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6" name="t49"/>
          <p:cNvSpPr txBox="1"/>
          <p:nvPr/>
        </p:nvSpPr>
        <p:spPr>
          <a:xfrm>
            <a:off x="10204704" y="256032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Flag</a:t>
            </a:r>
            <a:endParaRPr lang="en-US" sz="1800" dirty="0"/>
          </a:p>
        </p:txBody>
      </p:sp>
      <p:sp>
        <p:nvSpPr>
          <p:cNvPr id="37" name="t50"/>
          <p:cNvSpPr txBox="1"/>
          <p:nvPr/>
        </p:nvSpPr>
        <p:spPr>
          <a:xfrm>
            <a:off x="10204704" y="3017520"/>
            <a:ext cx="1261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Sends anything missing or inconsistent to a review queue</a:t>
            </a:r>
            <a:endParaRPr lang="en-US" sz="1300" dirty="0"/>
          </a:p>
        </p:txBody>
      </p:sp>
      <p:sp>
        <p:nvSpPr>
          <p:cNvPr id="38" name="t51"/>
          <p:cNvSpPr txBox="1"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Steps 1–6 are automatic. The engineer only works on step 7 — the items the system could not confirm.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Proven on the real villa drawings</a:t>
            </a:r>
            <a:endParaRPr lang="en-US" sz="3400" dirty="0"/>
          </a:p>
        </p:txBody>
      </p:sp>
      <p:sp>
        <p:nvSpPr>
          <p:cNvPr id="3" name="stat0"/>
          <p:cNvSpPr/>
          <p:nvPr/>
        </p:nvSpPr>
        <p:spPr>
          <a:xfrm>
            <a:off x="548640" y="155448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52"/>
          <p:cNvSpPr txBox="1"/>
          <p:nvPr/>
        </p:nvSpPr>
        <p:spPr>
          <a:xfrm>
            <a:off x="731520" y="1783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4800" dirty="0"/>
          </a:p>
        </p:txBody>
      </p:sp>
      <p:sp>
        <p:nvSpPr>
          <p:cNvPr id="5" name="t53"/>
          <p:cNvSpPr txBox="1"/>
          <p:nvPr/>
        </p:nvSpPr>
        <p:spPr>
          <a:xfrm>
            <a:off x="731520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DXF drawings read</a:t>
            </a:r>
            <a:endParaRPr lang="en-US" sz="1600" dirty="0"/>
          </a:p>
        </p:txBody>
      </p:sp>
      <p:sp>
        <p:nvSpPr>
          <p:cNvPr id="6" name="t54"/>
          <p:cNvSpPr txBox="1"/>
          <p:nvPr/>
        </p:nvSpPr>
        <p:spPr>
          <a:xfrm>
            <a:off x="731520" y="3154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0 failed</a:t>
            </a:r>
            <a:endParaRPr lang="en-US" sz="1300" dirty="0"/>
          </a:p>
        </p:txBody>
      </p:sp>
      <p:sp>
        <p:nvSpPr>
          <p:cNvPr id="7" name="stat1"/>
          <p:cNvSpPr/>
          <p:nvPr/>
        </p:nvSpPr>
        <p:spPr>
          <a:xfrm>
            <a:off x="3383280" y="155448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55"/>
          <p:cNvSpPr txBox="1"/>
          <p:nvPr/>
        </p:nvSpPr>
        <p:spPr>
          <a:xfrm>
            <a:off x="3566160" y="1783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247</a:t>
            </a:r>
            <a:endParaRPr lang="en-US" sz="4800" dirty="0"/>
          </a:p>
        </p:txBody>
      </p:sp>
      <p:sp>
        <p:nvSpPr>
          <p:cNvPr id="9" name="t56"/>
          <p:cNvSpPr txBox="1"/>
          <p:nvPr/>
        </p:nvSpPr>
        <p:spPr>
          <a:xfrm>
            <a:off x="3566160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construction elements</a:t>
            </a:r>
            <a:endParaRPr lang="en-US" sz="1600" dirty="0"/>
          </a:p>
        </p:txBody>
      </p:sp>
      <p:sp>
        <p:nvSpPr>
          <p:cNvPr id="10" name="t57"/>
          <p:cNvSpPr txBox="1"/>
          <p:nvPr/>
        </p:nvSpPr>
        <p:spPr>
          <a:xfrm>
            <a:off x="3566160" y="3154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identified automatically</a:t>
            </a:r>
            <a:endParaRPr lang="en-US" sz="1300" dirty="0"/>
          </a:p>
        </p:txBody>
      </p:sp>
      <p:sp>
        <p:nvSpPr>
          <p:cNvPr id="11" name="stat2"/>
          <p:cNvSpPr/>
          <p:nvPr/>
        </p:nvSpPr>
        <p:spPr>
          <a:xfrm>
            <a:off x="6217920" y="155448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58"/>
          <p:cNvSpPr txBox="1"/>
          <p:nvPr/>
        </p:nvSpPr>
        <p:spPr>
          <a:xfrm>
            <a:off x="6400800" y="1783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426 m³</a:t>
            </a:r>
            <a:endParaRPr lang="en-US" sz="4800" dirty="0"/>
          </a:p>
        </p:txBody>
      </p:sp>
      <p:sp>
        <p:nvSpPr>
          <p:cNvPr id="13" name="t59"/>
          <p:cNvSpPr txBox="1"/>
          <p:nvPr/>
        </p:nvSpPr>
        <p:spPr>
          <a:xfrm>
            <a:off x="6400800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concrete calculated</a:t>
            </a:r>
            <a:endParaRPr lang="en-US" sz="1600" dirty="0"/>
          </a:p>
        </p:txBody>
      </p:sp>
      <p:sp>
        <p:nvSpPr>
          <p:cNvPr id="14" name="t60"/>
          <p:cNvSpPr txBox="1"/>
          <p:nvPr/>
        </p:nvSpPr>
        <p:spPr>
          <a:xfrm>
            <a:off x="6400800" y="3154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+ 25.7 m³ blinding</a:t>
            </a:r>
            <a:endParaRPr lang="en-US" sz="1300" dirty="0"/>
          </a:p>
        </p:txBody>
      </p:sp>
      <p:sp>
        <p:nvSpPr>
          <p:cNvPr id="15" name="stat3"/>
          <p:cNvSpPr/>
          <p:nvPr/>
        </p:nvSpPr>
        <p:spPr>
          <a:xfrm>
            <a:off x="9052560" y="155448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61"/>
          <p:cNvSpPr txBox="1"/>
          <p:nvPr/>
        </p:nvSpPr>
        <p:spPr>
          <a:xfrm>
            <a:off x="9235440" y="1783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</a:t>
            </a:r>
            <a:endParaRPr lang="en-US" sz="4800" dirty="0"/>
          </a:p>
        </p:txBody>
      </p:sp>
      <p:sp>
        <p:nvSpPr>
          <p:cNvPr id="17" name="t62"/>
          <p:cNvSpPr txBox="1"/>
          <p:nvPr/>
        </p:nvSpPr>
        <p:spPr>
          <a:xfrm>
            <a:off x="9235440" y="2743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BOQ lines generated</a:t>
            </a:r>
            <a:endParaRPr lang="en-US" sz="1600" dirty="0"/>
          </a:p>
        </p:txBody>
      </p:sp>
      <p:sp>
        <p:nvSpPr>
          <p:cNvPr id="18" name="t63"/>
          <p:cNvSpPr txBox="1"/>
          <p:nvPr/>
        </p:nvSpPr>
        <p:spPr>
          <a:xfrm>
            <a:off x="9235440" y="3154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each traceable to the drawing</a:t>
            </a:r>
            <a:endParaRPr lang="en-US" sz="1300" dirty="0"/>
          </a:p>
        </p:txBody>
      </p:sp>
      <p:sp>
        <p:nvSpPr>
          <p:cNvPr id="19" name="t64"/>
          <p:cNvSpPr txBox="1"/>
          <p:nvPr/>
        </p:nvSpPr>
        <p:spPr>
          <a:xfrm>
            <a:off x="548640" y="43434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Footing sizes match the earlier Excel prototype exactly — and 3 items Excel could not identify are now identified (CF1 and two rafts).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27 elements were left without a quantity on purpose: the drawings do not give a value, so the system flags them instead of guessing.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Every number shows where it came from</a:t>
            </a:r>
            <a:endParaRPr lang="en-US" sz="3400" dirty="0"/>
          </a:p>
        </p:txBody>
      </p:sp>
      <p:sp>
        <p:nvSpPr>
          <p:cNvPr id="3" name="evidenceCard"/>
          <p:cNvSpPr/>
          <p:nvPr/>
        </p:nvSpPr>
        <p:spPr>
          <a:xfrm>
            <a:off x="548640" y="1463040"/>
            <a:ext cx="5486400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65"/>
          <p:cNvSpPr txBox="1"/>
          <p:nvPr/>
        </p:nvSpPr>
        <p:spPr>
          <a:xfrm>
            <a:off x="86868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Example: footing F3</a:t>
            </a:r>
            <a:endParaRPr lang="en-US" sz="2000" dirty="0"/>
          </a:p>
        </p:txBody>
      </p:sp>
      <p:sp>
        <p:nvSpPr>
          <p:cNvPr id="5" name="t66"/>
          <p:cNvSpPr txBox="1"/>
          <p:nvPr/>
        </p:nvSpPr>
        <p:spPr>
          <a:xfrm>
            <a:off x="86868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Drawing</a:t>
            </a:r>
            <a:endParaRPr lang="en-US" sz="1400" dirty="0"/>
          </a:p>
        </p:txBody>
      </p:sp>
      <p:sp>
        <p:nvSpPr>
          <p:cNvPr id="6" name="t67"/>
          <p:cNvSpPr txBox="1"/>
          <p:nvPr/>
        </p:nvSpPr>
        <p:spPr>
          <a:xfrm>
            <a:off x="2560320" y="2286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S-FP.dxf (foundation plan)</a:t>
            </a:r>
            <a:endParaRPr lang="en-US" sz="1400" dirty="0"/>
          </a:p>
        </p:txBody>
      </p:sp>
      <p:sp>
        <p:nvSpPr>
          <p:cNvPr id="7" name="t68"/>
          <p:cNvSpPr txBox="1"/>
          <p:nvPr/>
        </p:nvSpPr>
        <p:spPr>
          <a:xfrm>
            <a:off x="868680" y="29443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CAD layer</a:t>
            </a:r>
            <a:endParaRPr lang="en-US" sz="1400" dirty="0"/>
          </a:p>
        </p:txBody>
      </p:sp>
      <p:sp>
        <p:nvSpPr>
          <p:cNvPr id="8" name="t69"/>
          <p:cNvSpPr txBox="1"/>
          <p:nvPr/>
        </p:nvSpPr>
        <p:spPr>
          <a:xfrm>
            <a:off x="2560320" y="29443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S-FNDN-FTNG</a:t>
            </a:r>
            <a:endParaRPr lang="en-US" sz="1400" dirty="0"/>
          </a:p>
        </p:txBody>
      </p:sp>
      <p:sp>
        <p:nvSpPr>
          <p:cNvPr id="9" name="t70"/>
          <p:cNvSpPr txBox="1"/>
          <p:nvPr/>
        </p:nvSpPr>
        <p:spPr>
          <a:xfrm>
            <a:off x="868680" y="360273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Length × width</a:t>
            </a:r>
            <a:endParaRPr lang="en-US" sz="1400" dirty="0"/>
          </a:p>
        </p:txBody>
      </p:sp>
      <p:sp>
        <p:nvSpPr>
          <p:cNvPr id="10" name="t71"/>
          <p:cNvSpPr txBox="1"/>
          <p:nvPr/>
        </p:nvSpPr>
        <p:spPr>
          <a:xfrm>
            <a:off x="2560320" y="360273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2.600 × 2.200 m — measured from the outline</a:t>
            </a:r>
            <a:endParaRPr lang="en-US" sz="1400" dirty="0"/>
          </a:p>
        </p:txBody>
      </p:sp>
      <p:sp>
        <p:nvSpPr>
          <p:cNvPr id="11" name="t72"/>
          <p:cNvSpPr txBox="1"/>
          <p:nvPr/>
        </p:nvSpPr>
        <p:spPr>
          <a:xfrm>
            <a:off x="868680" y="426110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Depth</a:t>
            </a:r>
            <a:endParaRPr lang="en-US" sz="1400" dirty="0"/>
          </a:p>
        </p:txBody>
      </p:sp>
      <p:sp>
        <p:nvSpPr>
          <p:cNvPr id="12" name="t73"/>
          <p:cNvSpPr txBox="1"/>
          <p:nvPr/>
        </p:nvSpPr>
        <p:spPr>
          <a:xfrm>
            <a:off x="2560320" y="426110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450 mm — footing schedule on S-FD.dxf</a:t>
            </a:r>
            <a:endParaRPr lang="en-US" sz="1400" dirty="0"/>
          </a:p>
        </p:txBody>
      </p:sp>
      <p:sp>
        <p:nvSpPr>
          <p:cNvPr id="13" name="t74"/>
          <p:cNvSpPr txBox="1"/>
          <p:nvPr/>
        </p:nvSpPr>
        <p:spPr>
          <a:xfrm>
            <a:off x="868680" y="49194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Cross-check</a:t>
            </a:r>
            <a:endParaRPr lang="en-US" sz="1400" dirty="0"/>
          </a:p>
        </p:txBody>
      </p:sp>
      <p:sp>
        <p:nvSpPr>
          <p:cNvPr id="14" name="t75"/>
          <p:cNvSpPr txBox="1"/>
          <p:nvPr/>
        </p:nvSpPr>
        <p:spPr>
          <a:xfrm>
            <a:off x="2560320" y="49194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Drawn size = schedule size  ✔</a:t>
            </a:r>
            <a:endParaRPr lang="en-US" sz="1400" dirty="0"/>
          </a:p>
        </p:txBody>
      </p:sp>
      <p:sp>
        <p:nvSpPr>
          <p:cNvPr id="15" name="formulaCard"/>
          <p:cNvSpPr/>
          <p:nvPr/>
        </p:nvSpPr>
        <p:spPr>
          <a:xfrm>
            <a:off x="6400800" y="1463040"/>
            <a:ext cx="5212080" cy="210312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76"/>
          <p:cNvSpPr txBox="1"/>
          <p:nvPr/>
        </p:nvSpPr>
        <p:spPr>
          <a:xfrm>
            <a:off x="672084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Calculation</a:t>
            </a:r>
            <a:endParaRPr lang="en-US" sz="1600" dirty="0"/>
          </a:p>
        </p:txBody>
      </p:sp>
      <p:sp>
        <p:nvSpPr>
          <p:cNvPr id="17" name="t77"/>
          <p:cNvSpPr txBox="1"/>
          <p:nvPr/>
        </p:nvSpPr>
        <p:spPr>
          <a:xfrm>
            <a:off x="6720840" y="2103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2.600 × 2.200 × 0.450</a:t>
            </a:r>
            <a:endParaRPr lang="en-US" sz="2800" dirty="0"/>
          </a:p>
        </p:txBody>
      </p:sp>
      <p:sp>
        <p:nvSpPr>
          <p:cNvPr id="18" name="t78"/>
          <p:cNvSpPr txBox="1"/>
          <p:nvPr/>
        </p:nvSpPr>
        <p:spPr>
          <a:xfrm>
            <a:off x="6720840" y="2697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= 2.574 m³</a:t>
            </a:r>
            <a:endParaRPr lang="en-US" sz="3400" dirty="0"/>
          </a:p>
        </p:txBody>
      </p:sp>
      <p:sp>
        <p:nvSpPr>
          <p:cNvPr id="19" name="t79"/>
          <p:cNvSpPr txBox="1"/>
          <p:nvPr/>
        </p:nvSpPr>
        <p:spPr>
          <a:xfrm>
            <a:off x="6400800" y="384048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Click any quantity in the app to see this evidence, with the element highlighted on the drawing. Anyone — engineer, QS or client — can check it in seconds.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It also catches mistakes in the drawings</a:t>
            </a:r>
            <a:endParaRPr lang="en-US" sz="3400" dirty="0"/>
          </a:p>
        </p:txBody>
      </p:sp>
      <p:sp>
        <p:nvSpPr>
          <p:cNvPr id="3" name="err0"/>
          <p:cNvSpPr/>
          <p:nvPr/>
        </p:nvSpPr>
        <p:spPr>
          <a:xfrm>
            <a:off x="548640" y="1554480"/>
            <a:ext cx="352044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80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81"/>
          <p:cNvSpPr txBox="1"/>
          <p:nvPr/>
        </p:nvSpPr>
        <p:spPr>
          <a:xfrm>
            <a:off x="8229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6" name="t82"/>
          <p:cNvSpPr txBox="1"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Column C7 · Ground floor</a:t>
            </a:r>
            <a:endParaRPr lang="en-US" sz="1700" dirty="0"/>
          </a:p>
        </p:txBody>
      </p:sp>
      <p:sp>
        <p:nvSpPr>
          <p:cNvPr id="7" name="t83"/>
          <p:cNvSpPr txBox="1"/>
          <p:nvPr/>
        </p:nvSpPr>
        <p:spPr>
          <a:xfrm>
            <a:off x="82296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Drawn 300 × 600 mm</a:t>
            </a:r>
            <a:endParaRPr lang="en-US" sz="1500" dirty="0"/>
          </a:p>
        </p:txBody>
      </p:sp>
      <p:sp>
        <p:nvSpPr>
          <p:cNvPr id="8" name="t84"/>
          <p:cNvSpPr txBox="1"/>
          <p:nvPr/>
        </p:nvSpPr>
        <p:spPr>
          <a:xfrm>
            <a:off x="82296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Schedule says 250 × 600 mm</a:t>
            </a:r>
            <a:endParaRPr lang="en-US" sz="1500" dirty="0"/>
          </a:p>
        </p:txBody>
      </p:sp>
      <p:sp>
        <p:nvSpPr>
          <p:cNvPr id="9" name="err1"/>
          <p:cNvSpPr/>
          <p:nvPr/>
        </p:nvSpPr>
        <p:spPr>
          <a:xfrm>
            <a:off x="4297680" y="1554480"/>
            <a:ext cx="352044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85"/>
          <p:cNvSpPr/>
          <p:nvPr/>
        </p:nvSpPr>
        <p:spPr>
          <a:xfrm>
            <a:off x="4572000" y="17830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86"/>
          <p:cNvSpPr txBox="1"/>
          <p:nvPr/>
        </p:nvSpPr>
        <p:spPr>
          <a:xfrm>
            <a:off x="45720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87"/>
          <p:cNvSpPr txBox="1"/>
          <p:nvPr/>
        </p:nvSpPr>
        <p:spPr>
          <a:xfrm>
            <a:off x="457200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Column C16 · First floor</a:t>
            </a:r>
            <a:endParaRPr lang="en-US" sz="1700" dirty="0"/>
          </a:p>
        </p:txBody>
      </p:sp>
      <p:sp>
        <p:nvSpPr>
          <p:cNvPr id="13" name="t88"/>
          <p:cNvSpPr txBox="1"/>
          <p:nvPr/>
        </p:nvSpPr>
        <p:spPr>
          <a:xfrm>
            <a:off x="457200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Drawn 200 × 600 mm</a:t>
            </a:r>
            <a:endParaRPr lang="en-US" sz="1500" dirty="0"/>
          </a:p>
        </p:txBody>
      </p:sp>
      <p:sp>
        <p:nvSpPr>
          <p:cNvPr id="14" name="t89"/>
          <p:cNvSpPr txBox="1"/>
          <p:nvPr/>
        </p:nvSpPr>
        <p:spPr>
          <a:xfrm>
            <a:off x="457200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Schedule says 200 × 700 mm</a:t>
            </a:r>
            <a:endParaRPr lang="en-US" sz="1500" dirty="0"/>
          </a:p>
        </p:txBody>
      </p:sp>
      <p:sp>
        <p:nvSpPr>
          <p:cNvPr id="15" name="err2"/>
          <p:cNvSpPr/>
          <p:nvPr/>
        </p:nvSpPr>
        <p:spPr>
          <a:xfrm>
            <a:off x="8046720" y="1554480"/>
            <a:ext cx="352044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90"/>
          <p:cNvSpPr/>
          <p:nvPr/>
        </p:nvSpPr>
        <p:spPr>
          <a:xfrm>
            <a:off x="8321040" y="17830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91"/>
          <p:cNvSpPr txBox="1"/>
          <p:nvPr/>
        </p:nvSpPr>
        <p:spPr>
          <a:xfrm>
            <a:off x="83210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18" name="t92"/>
          <p:cNvSpPr txBox="1"/>
          <p:nvPr/>
        </p:nvSpPr>
        <p:spPr>
          <a:xfrm>
            <a:off x="832104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Beams PHB7 &amp; PHB8 · Penthouse</a:t>
            </a:r>
            <a:endParaRPr lang="en-US" sz="1700" dirty="0"/>
          </a:p>
        </p:txBody>
      </p:sp>
      <p:sp>
        <p:nvSpPr>
          <p:cNvPr id="19" name="t93"/>
          <p:cNvSpPr txBox="1"/>
          <p:nvPr/>
        </p:nvSpPr>
        <p:spPr>
          <a:xfrm>
            <a:off x="832104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Drawn 200 mm wide</a:t>
            </a:r>
            <a:endParaRPr lang="en-US" sz="1500" dirty="0"/>
          </a:p>
        </p:txBody>
      </p:sp>
      <p:sp>
        <p:nvSpPr>
          <p:cNvPr id="20" name="t94"/>
          <p:cNvSpPr txBox="1"/>
          <p:nvPr/>
        </p:nvSpPr>
        <p:spPr>
          <a:xfrm>
            <a:off x="832104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Schedule says 300 mm wide</a:t>
            </a:r>
            <a:endParaRPr lang="en-US" sz="1500" dirty="0"/>
          </a:p>
        </p:txBody>
      </p:sp>
      <p:sp>
        <p:nvSpPr>
          <p:cNvPr id="21" name="t95"/>
          <p:cNvSpPr txBox="1"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Real inconsistencies between the consultant's plans and schedules, found by automatic cross-checking. Raised before construction, they cost a phone call; found on site, they cost rework.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changes for the team</a:t>
            </a:r>
            <a:endParaRPr lang="en-US" sz="3400" dirty="0"/>
          </a:p>
        </p:txBody>
      </p:sp>
      <p:sp>
        <p:nvSpPr>
          <p:cNvPr id="3" name="beforeCard"/>
          <p:cNvSpPr/>
          <p:nvPr/>
        </p:nvSpPr>
        <p:spPr>
          <a:xfrm>
            <a:off x="548640" y="1463040"/>
            <a:ext cx="539496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fterCard"/>
          <p:cNvSpPr/>
          <p:nvPr/>
        </p:nvSpPr>
        <p:spPr>
          <a:xfrm>
            <a:off x="6217920" y="1463040"/>
            <a:ext cx="5394960" cy="365760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96"/>
          <p:cNvSpPr txBox="1"/>
          <p:nvPr/>
        </p:nvSpPr>
        <p:spPr>
          <a:xfrm>
            <a:off x="86868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Before</a:t>
            </a:r>
            <a:endParaRPr lang="en-US" sz="2400" dirty="0"/>
          </a:p>
        </p:txBody>
      </p:sp>
      <p:sp>
        <p:nvSpPr>
          <p:cNvPr id="6" name="t97"/>
          <p:cNvSpPr txBox="1"/>
          <p:nvPr/>
        </p:nvSpPr>
        <p:spPr>
          <a:xfrm>
            <a:off x="653796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With the system</a:t>
            </a:r>
            <a:endParaRPr lang="en-US" sz="2400" dirty="0"/>
          </a:p>
        </p:txBody>
      </p:sp>
      <p:sp>
        <p:nvSpPr>
          <p:cNvPr id="7" name="t98"/>
          <p:cNvSpPr txBox="1"/>
          <p:nvPr/>
        </p:nvSpPr>
        <p:spPr>
          <a:xfrm>
            <a:off x="868680" y="2331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QS measures every item by hand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Days per project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Numbers live in personal spreadsheets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Drawing errors found late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Revision = start again</a:t>
            </a:r>
            <a:endParaRPr lang="en-US" sz="1700" dirty="0"/>
          </a:p>
        </p:txBody>
      </p:sp>
      <p:sp>
        <p:nvSpPr>
          <p:cNvPr id="8" name="t99"/>
          <p:cNvSpPr txBox="1"/>
          <p:nvPr/>
        </p:nvSpPr>
        <p:spPr>
          <a:xfrm>
            <a:off x="6537960" y="2331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System measures; QS reviews flagged items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Minutes to process a full drawing set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Every number linked to its drawing source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Plan vs schedule conflicts flagged early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Revision = re-run and compare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still needs a person — by design</a:t>
            </a:r>
            <a:endParaRPr lang="en-US" sz="3400" dirty="0"/>
          </a:p>
        </p:txBody>
      </p:sp>
      <p:sp>
        <p:nvSpPr>
          <p:cNvPr id="3" name="c100"/>
          <p:cNvSpPr/>
          <p:nvPr/>
        </p:nvSpPr>
        <p:spPr>
          <a:xfrm>
            <a:off x="640080" y="164592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101"/>
          <p:cNvSpPr txBox="1"/>
          <p:nvPr/>
        </p:nvSpPr>
        <p:spPr>
          <a:xfrm>
            <a:off x="6400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102"/>
          <p:cNvSpPr txBox="1"/>
          <p:nvPr/>
        </p:nvSpPr>
        <p:spPr>
          <a:xfrm>
            <a:off x="1554480" y="1554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 real BOQ yet</a:t>
            </a:r>
            <a:endParaRPr lang="en-US" sz="2000" dirty="0"/>
          </a:p>
        </p:txBody>
      </p:sp>
      <p:sp>
        <p:nvSpPr>
          <p:cNvPr id="6" name="t103"/>
          <p:cNvSpPr txBox="1"/>
          <p:nvPr/>
        </p:nvSpPr>
        <p:spPr>
          <a:xfrm>
            <a:off x="1554480" y="20116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comparison was demonstrated with a clearly labelled test BOQ. It must now be run on a real one.</a:t>
            </a:r>
            <a:endParaRPr lang="en-US" sz="1600" dirty="0"/>
          </a:p>
        </p:txBody>
      </p:sp>
      <p:sp>
        <p:nvSpPr>
          <p:cNvPr id="7" name="c104"/>
          <p:cNvSpPr/>
          <p:nvPr/>
        </p:nvSpPr>
        <p:spPr>
          <a:xfrm>
            <a:off x="640080" y="306324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105"/>
          <p:cNvSpPr txBox="1"/>
          <p:nvPr/>
        </p:nvSpPr>
        <p:spPr>
          <a:xfrm>
            <a:off x="64008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106"/>
          <p:cNvSpPr txBox="1"/>
          <p:nvPr/>
        </p:nvSpPr>
        <p:spPr>
          <a:xfrm>
            <a:off x="1554480" y="29718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Storey heights</a:t>
            </a:r>
            <a:endParaRPr lang="en-US" sz="2000" dirty="0"/>
          </a:p>
        </p:txBody>
      </p:sp>
      <p:sp>
        <p:nvSpPr>
          <p:cNvPr id="10" name="t107"/>
          <p:cNvSpPr txBox="1"/>
          <p:nvPr/>
        </p:nvSpPr>
        <p:spPr>
          <a:xfrm>
            <a:off x="1554480" y="34290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Not drawn as numbers; derived from level tags and must be confirmed by an engineer.</a:t>
            </a:r>
            <a:endParaRPr lang="en-US" sz="1600" dirty="0"/>
          </a:p>
        </p:txBody>
      </p:sp>
      <p:sp>
        <p:nvSpPr>
          <p:cNvPr id="11" name="c108"/>
          <p:cNvSpPr/>
          <p:nvPr/>
        </p:nvSpPr>
        <p:spPr>
          <a:xfrm>
            <a:off x="640080" y="448056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109"/>
          <p:cNvSpPr txBox="1"/>
          <p:nvPr/>
        </p:nvSpPr>
        <p:spPr>
          <a:xfrm>
            <a:off x="64008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110"/>
          <p:cNvSpPr txBox="1"/>
          <p:nvPr/>
        </p:nvSpPr>
        <p:spPr>
          <a:xfrm>
            <a:off x="1554480" y="43891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Incomplete drawings</a:t>
            </a:r>
            <a:endParaRPr lang="en-US" sz="2000" dirty="0"/>
          </a:p>
        </p:txBody>
      </p:sp>
      <p:sp>
        <p:nvSpPr>
          <p:cNvPr id="14" name="t111"/>
          <p:cNvSpPr txBox="1"/>
          <p:nvPr/>
        </p:nvSpPr>
        <p:spPr>
          <a:xfrm>
            <a:off x="1554480" y="4846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Some slab zones and beams have no thickness or depth on the drawings; they stay flagged, never guessed.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Next step: prove it on a real BOQ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Run it on a past project that has drawings + BOQ · time the QS review against manual take-off · then add formwork and rebar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tic Concrete">
  <a:themeElements>
    <a:clrScheme name="Static Concrete">
      <a:dk1>
        <a:srgbClr val="1E262E"/>
      </a:dk1>
      <a:lt1>
        <a:srgbClr val="FFFFFF"/>
      </a:lt1>
      <a:dk2>
        <a:srgbClr val="3A4651"/>
      </a:dk2>
      <a:lt2>
        <a:srgbClr val="EEF1F4"/>
      </a:lt2>
      <a:accent1>
        <a:srgbClr val="E0701B"/>
      </a:accent1>
      <a:accent2>
        <a:srgbClr val="2E7D32"/>
      </a:accent2>
      <a:accent3>
        <a:srgbClr val="C0392B"/>
      </a:accent3>
      <a:accent4>
        <a:srgbClr val="5B7083"/>
      </a:accent4>
      <a:accent5>
        <a:srgbClr val="F2B134"/>
      </a:accent5>
      <a:accent6>
        <a:srgbClr val="8A96A3"/>
      </a:accent6>
      <a:hlink>
        <a:srgbClr val="E0701B"/>
      </a:hlink>
      <a:folHlink>
        <a:srgbClr val="5B7083"/>
      </a:folHlink>
    </a:clrScheme>
    <a:fontScheme name="Static Concre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QTO system automates take-off and BOQ checking</dc:title>
  <dc:subject>PptxGenJS Presentation</dc:subject>
  <dc:creator>Static Group</dc:creator>
  <cp:lastModifiedBy>Static Group</cp:lastModifiedBy>
  <cp:revision>1</cp:revision>
  <dcterms:created xsi:type="dcterms:W3CDTF">2026-10-06T19:23:57Z</dcterms:created>
  <dcterms:modified xsi:type="dcterms:W3CDTF">2026-10-06T19:23:57Z</dcterms:modified>
</cp:coreProperties>
</file>